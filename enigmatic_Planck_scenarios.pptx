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Solar Irradiance Variability Due To Rotation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C3C3C"/>
                </a:solidFill>
              </a:rPr>
              <a:t>Per-scenario regression of SSI on TSI across nine magnetic-feature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</a:rPr>
              <a:t>Model: solar rotation (P = 27 d, B₀ = 0). Grid: 180 × 360. n_steps = 120.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1. Single Umbra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One 10° circular umbra at the equator; placed just behind the east limb at t=0.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01_single_umbra/animation.gif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2. Single Penumbra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One 10° circular penumbra at the equator; placed just behind the east limb at t=0.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02_single_penumbra/animation.gif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3. Single Faculae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One 10° circular faculae patch at the equator; just behind the east limb at t=0.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03_single_faculae/animation.gif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4. Multi Umbrae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Four scattered circular umbrae at varying latitudes and longitudes.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04_multi_umbrae/animation.gif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5. Multi Penumbrae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Four scattered circular penumbrae (same positions as multi_umbrae).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05_multi_penumbrae/animation.gif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6. Multi Faculae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Four scattered circular faculae patches (same positions as multi_umbrae).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06_multi_faculae/animation.gif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7. Concentric 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One concentric active region at (15°N, -90°): umbra(2°)⊂penumbra(5°)⊂faculae(10°).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07_concentric_AR/animation.gif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8. Multi Concentric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Three concentric active regions at different positions; realistic spot+faculae complexes.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08_multi_concentric/animation.gif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9. Activity Belts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Butterfly-like two-belt activity at ±15°: 6 concentric active regions distributed in longitude.</a:t>
            </a:r>
          </a:p>
        </p:txBody>
      </p:sp>
      <p:pic>
        <p:nvPicPr>
          <p:cNvPr id="4" name="Picture 3" descr="regressio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78924"/>
            <a:ext cx="5669280" cy="4123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35508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C0000"/>
                </a:solidFill>
              </a:rPr>
              <a:t>Main result: regression slope a(λ) and correlation r(λ)</a:t>
            </a:r>
          </a:p>
        </p:txBody>
      </p:sp>
      <p:pic>
        <p:nvPicPr>
          <p:cNvPr id="6" name="Picture 5" descr="diagnos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15" y="1371600"/>
            <a:ext cx="456057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84632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Diagnostic: TSI, a(λ), r(λ), per-λ scatter with fit</a:t>
            </a:r>
          </a:p>
        </p:txBody>
      </p:sp>
      <p:pic>
        <p:nvPicPr>
          <p:cNvPr id="8" name="Picture 7" descr="animation.mid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212080"/>
            <a:ext cx="128016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08960" y="521208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6464"/>
                </a:solidFill>
              </a:rPr>
              <a:t>Animation: 09_activity_belts/animation.gif</a:t>
            </a:r>
            <a:br/>
            <a:r>
              <a:rPr sz="1000" b="0">
                <a:solidFill>
                  <a:srgbClr val="646464"/>
                </a:solidFill>
              </a:rPr>
              <a:t>(middle frame shown; open the .gif in a browser or Quick Look to play)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Comparison across all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Regression slope a(λ) and correlation r(λ) overlaid for all 9 scenarios (200–2000 nm).</a:t>
            </a:r>
          </a:p>
        </p:txBody>
      </p:sp>
      <p:pic>
        <p:nvPicPr>
          <p:cNvPr id="4" name="Picture 3" descr="_comparison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371600"/>
            <a:ext cx="682752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0000"/>
                </a:solidFill>
              </a:rPr>
              <a:t>Takeaway: pure-spot scenarios flip a(λ) sign in the mid-UV; faculae-dominated and mixed-feature scenarios keep a(λ) &gt; 0 across the visible.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0000"/>
                </a:solidFill>
              </a:rPr>
              <a:t>Comparison across scenarios — zoomed (350–1300 nm)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64646"/>
                </a:solidFill>
              </a:rPr>
              <a:t>Same overlay restricted to 350–1300 nm for readability; the UV noise compressed the full-range scale.</a:t>
            </a:r>
          </a:p>
        </p:txBody>
      </p:sp>
      <p:pic>
        <p:nvPicPr>
          <p:cNvPr id="4" name="Picture 3" descr="_comparison_350_1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371600"/>
            <a:ext cx="682752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C0000"/>
                </a:solidFill>
              </a:rPr>
              <a:t>Spot-only scenarios have a(λ) near or below zero; faculae and mixed scenarios have a(λ) ≈ 1–2 peaking in the blue.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